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  <a:latin typeface="Times New Roman"/>
              </a:defRPr>
            </a:pPr>
            <a:r>
              <a:t>A MINI PROJECT PRESENTATION ON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TERMGUARD: AUTONOMOUS CONTRACT INTELLIGENCE</a:t>
            </a:r>
            <a:br/>
            <a:r>
              <a:t>&amp; MULTI-CHANNEL DEADLINE DEFENSE SYSTEM</a:t>
            </a:r>
          </a:p>
          <a:p>
            <a:pPr>
              <a:spcAft>
                <a:spcPts val="2800"/>
              </a:spcAft>
              <a:defRPr sz="1300">
                <a:solidFill>
                  <a:srgbClr val="94A3B8"/>
                </a:solidFill>
                <a:latin typeface="Times New Roman"/>
              </a:defRPr>
            </a:pPr>
            <a:r>
              <a:t>AI-Driven Adhesion Contract Analysis | Zero-Shot Legal Clause Extraction | 3-Stage Lifecycle Notifications (Twilio SMS &amp; Resend Email)</a:t>
            </a:r>
          </a:p>
          <a:p>
            <a:pPr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Submitted by: LAXMI HARSHITH REBALLY</a:t>
            </a:r>
            <a:br/>
            <a:r>
              <a:t>Bachelor of Technology in Computer Science &amp; Engineering</a:t>
            </a:r>
            <a:br/>
            <a:r>
              <a:t>Department of Computer Science &amp; Engineering | 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TERMGUARD PRESENTATION</a:t>
            </a:r>
          </a:p>
          <a:p>
            <a:pPr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2. Executive Abstract &amp; Problem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The Consumer Contracting Crisis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Adhesion Contracts: </a:t>
            </a:r>
            <a:r>
              <a:rPr b="0"/>
              <a:t>Digital terms average 7,000+ words; 99% of consumers click 'Agree' without reading due to cognitive overload.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Dark Patterns: </a:t>
            </a:r>
            <a:r>
              <a:rPr b="0"/>
              <a:t>Corporations exploit this through predatory clauses: silent auto-renewals, 30-day notice forfeiture, and fee hikes.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Financial Leakage: </a:t>
            </a:r>
            <a:r>
              <a:rPr b="0"/>
              <a:t>Households lose $350-$1,200 annually in uncancelled subscriptions, gym passes, and lease penalty deductions.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Passive Tools: </a:t>
            </a:r>
            <a:r>
              <a:rPr b="0"/>
              <a:t>Legacy summarizers only provide static reading assistance without continuous background deadline defense.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The TermGuard Solution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Cognitive AI Engine: </a:t>
            </a:r>
            <a:r>
              <a:rPr b="0"/>
              <a:t>Deploys Google Gemini 1.5 Flash to extract predatory clauses, calculate financial exposure, and isolate cutoff dates.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Deterministic Lifecycle: </a:t>
            </a:r>
            <a:r>
              <a:rPr b="0"/>
              <a:t>Automated cron daemon executes a 3-Stage Alert Lifecycle: 7-Day Warning, 24-Hour Urgent Alert, and Final Day Call.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Multi-Channel Telephony: </a:t>
            </a:r>
            <a:r>
              <a:rPr b="0"/>
              <a:t>Dispatches real-time cellular SMS (Twilio/Fast2SMS) and responsive HTML emails (Resend) directly to consumers.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Automated Defense: </a:t>
            </a:r>
            <a:r>
              <a:rPr b="0"/>
              <a:t>Generates formal cancellation dispute letters citing contract section numbers; auto-purges expired records after 24h.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SYSTEM ARCHITECTURE &amp; TECH STACK</a:t>
            </a:r>
          </a:p>
          <a:p>
            <a:pPr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3. Introduction: Modules, Libraries &amp; Packages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Core Modules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Executive Risk HUD: </a:t>
            </a:r>
            <a:r>
              <a:rPr b="0"/>
              <a:t>TopStatsHUD.tsx tracking protected capital, red flags, and deadlines.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Document Studio: </a:t>
            </a:r>
            <a:r>
              <a:rPr b="0"/>
              <a:t>Multi-format contract ingestion and text sanitization.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AI Extraction Core: </a:t>
            </a:r>
            <a:r>
              <a:rPr b="0"/>
              <a:t>Gemini 1.5 Flash zero-shot clause classifier (gemini.ts).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3-Stage Alert Daemon: </a:t>
            </a:r>
            <a:r>
              <a:rPr b="0"/>
              <a:t>Background cron route handler (/api/cron).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Telephony Dispatcher: </a:t>
            </a:r>
            <a:r>
              <a:rPr b="0"/>
              <a:t>Twilio SMS &amp; Fast2SMS cellular pipelines (sms.ts).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Transactional Email: </a:t>
            </a:r>
            <a:r>
              <a:rPr b="0"/>
              <a:t>Resend HTML dispute notice compiler (resend.ts).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Software Libraries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@google/generative-ai: </a:t>
            </a:r>
            <a:r>
              <a:rPr b="0"/>
              <a:t>Official SDK for Gemini 1.5 Flash LLM inference.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resend (v4.0): </a:t>
            </a:r>
            <a:r>
              <a:rPr b="0"/>
              <a:t>Modern transactional email delivery with DKIM/SPF support.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lucide-react: </a:t>
            </a:r>
            <a:r>
              <a:rPr b="0"/>
              <a:t>Accessible SVG icon set for risk badges and indicators.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clsx &amp; tailwind-merge: </a:t>
            </a:r>
            <a:r>
              <a:rPr b="0"/>
              <a:t>Dynamic CSS class combination utility.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react &amp; react-dom: </a:t>
            </a:r>
            <a:r>
              <a:rPr b="0"/>
              <a:t>Core React 18 engine with Server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Packages &amp; Tooling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Next.js 14 (App Router): </a:t>
            </a:r>
            <a:r>
              <a:rPr b="0"/>
              <a:t>Full-stack hybrid server/client framework with SWC.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TypeScript 5.6: </a:t>
            </a:r>
            <a:r>
              <a:rPr b="0"/>
              <a:t>Strict static typing across entities, APIs, and components.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Tailwind CSS 3.4: </a:t>
            </a:r>
            <a:r>
              <a:rPr b="0"/>
              <a:t>Cyber-defense dark aesthetic with responsive layouts.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PostCSS &amp; Autoprefixer: </a:t>
            </a:r>
            <a:r>
              <a:rPr b="0"/>
              <a:t>Modern CSS post-processing pipeline.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Node.js LTS (v20+): </a:t>
            </a:r>
            <a:r>
              <a:rPr b="0"/>
              <a:t>High-performance JavaScript runtime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COMPARATIVE ANALYSIS</a:t>
            </a:r>
          </a:p>
          <a:p>
            <a:pPr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4. System Analysis: Limitations &amp;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11480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749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Limitations of Existing Systems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Manual Legal Review: </a:t>
            </a:r>
            <a:r>
              <a:rPr b="0"/>
              <a:t>Requires expensive legal counsel; entirely inaccessible for daily consumer agreements.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Smartphone Calendars: </a:t>
            </a:r>
            <a:r>
              <a:rPr b="0"/>
              <a:t>Google/Apple Calendars lack semantic contract awareness; cannot compute notice periods backwards.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First-Gen AI Tools: </a:t>
            </a:r>
            <a:r>
              <a:rPr b="0"/>
              <a:t>Static summaries only; once closed, zero continuous background monitoring occurs.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Notice Forfeiture: </a:t>
            </a:r>
            <a:r>
              <a:rPr b="0"/>
              <a:t>Missing a 30-day window results in automatic 12-month lock-in or complete deposit forfeiture.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280160"/>
            <a:ext cx="630936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41732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Existing Systems vs. TermGuard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Predatory Trap Isolation: </a:t>
            </a:r>
            <a:r>
              <a:rPr b="0"/>
              <a:t>Manual: 0% | Generic AI: Partial | TermGuard: 96.4% Precision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Notice Backward Calculation: </a:t>
            </a:r>
            <a:r>
              <a:rPr b="0"/>
              <a:t>Manual: Manual arithmetic | Generic AI: No | TermGuard: Automated T-7D, T-24H, T-0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Real Cellular SMS Push: </a:t>
            </a:r>
            <a:r>
              <a:rPr b="0"/>
              <a:t>Manual: No | Generic AI: No | TermGuard: Native Twilio &amp; Fast2SMS Gateway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Transactional HTML Email: </a:t>
            </a:r>
            <a:r>
              <a:rPr b="0"/>
              <a:t>Manual: Manual | Generic AI: No | TermGuard: Resend with 1-Click Action Links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Formal Dispute Notice Draft: </a:t>
            </a:r>
            <a:r>
              <a:rPr b="0"/>
              <a:t>Manual: Manual draft | Generic AI: Basic prompt | TermGuard: Auto-Draft citing Clause #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Automated Post-Expiry Purge: </a:t>
            </a:r>
            <a:r>
              <a:rPr b="0"/>
              <a:t>Manual: Manual cleanup | Generic AI: No | TermGuard: Automatic 24h Cleanup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SPECIFICATION SPEC</a:t>
            </a:r>
          </a:p>
          <a:p>
            <a:pPr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5. System Requirement Specification (Hardware &amp; Software)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Hardware Specifications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Development Host: </a:t>
            </a:r>
            <a:r>
              <a:rPr b="0"/>
              <a:t>Intel Core i5 / AMD Ryzen 5 (quad-core 2.4 GHz+), 8 GB RAM (16 GB recommended), 2 GB SSD space.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Cloud Host (Render / Vercel): </a:t>
            </a:r>
            <a:r>
              <a:rPr b="0"/>
              <a:t>0.5 to 1.0 vCPU virtual container, 512 MB to 1024 MB allocated Node.js memory.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Storage Subsystem: </a:t>
            </a:r>
            <a:r>
              <a:rPr b="0"/>
              <a:t>Local solid-state persistent volume for atomic JSON database serialization.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End-User Client: </a:t>
            </a:r>
            <a:r>
              <a:rPr b="0"/>
              <a:t>Any modern smartphone or workstation web browser with active GSM cellular connection for SMS reception.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Software Specifications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Operating System: </a:t>
            </a:r>
            <a:r>
              <a:rPr b="0"/>
              <a:t>Windows 11 / Ubuntu Linux 22.04 LTS / macOS Sonoma.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Runtime Environment: </a:t>
            </a:r>
            <a:r>
              <a:rPr b="0"/>
              <a:t>Node.js v20.x or v22.x LTS with npm v10.x.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Web Framework: </a:t>
            </a:r>
            <a:r>
              <a:rPr b="0"/>
              <a:t>Next.js 14 App Router, React 18, TypeScript 5.6.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AI Engine API: </a:t>
            </a:r>
            <a:r>
              <a:rPr b="0"/>
              <a:t>Google Gemini 1.5 Flash multimodal API via @google/generative-ai.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Telephony Gateways: </a:t>
            </a:r>
            <a:r>
              <a:rPr b="0"/>
              <a:t>Twilio REST API (Account SID, Auth Token) with Fast2SMS Indian fallback.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Transactional Email: </a:t>
            </a:r>
            <a:r>
              <a:rPr b="0"/>
              <a:t>Resend REST API with verified sender domain.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SYSTEM DESIGN</a:t>
            </a:r>
          </a:p>
          <a:p>
            <a:pPr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6. System Design: Architecture, UML &amp; Flowchart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035040" cy="4114800"/>
          </a:xfrm>
          <a:prstGeom prst="rect">
            <a:avLst/>
          </a:prstGeom>
        </p:spPr>
      </p:pic>
      <p:pic>
        <p:nvPicPr>
          <p:cNvPr id="5" name="Picture 4" descr="flowchart_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280160"/>
            <a:ext cx="4389120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ENGINEERING IMPLEMENTATION</a:t>
            </a:r>
          </a:p>
          <a:p>
            <a:pPr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7. System Implementation: Core Algorithms &amp; Pipelines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Cognitive AI &amp; Risk Modeling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Zero-Shot Legal Prompting: </a:t>
            </a:r>
            <a:r>
              <a:rPr b="0"/>
              <a:t>Strictly typed JSON schema enforcing extraction of verbatim quotes, risk categories, and backward-computed cutoffs.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Trap Archetypes: </a:t>
            </a:r>
            <a:r>
              <a:rPr b="0"/>
              <a:t>Detects auto-renewals, notice forfeiture, arbitration waivers, unilateral fee hikes, and data licensing.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Mathematical Risk Formulation: </a:t>
            </a:r>
            <a:r>
              <a:rPr b="0"/>
              <a:t>R(D) = min(100, Sum[S(ci) * w(ci)] + F_penalty), weighting Critical (30 pts), Warning (15 pts), Info (5 pts).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Financial Exposure Calc: </a:t>
            </a:r>
            <a:r>
              <a:rPr b="0"/>
              <a:t>Quantifies financial capital at risk in INR and USD units.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Telecommunications &amp; Lifecycle Daemon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3-Stage Cron Daemon (/api/cron): </a:t>
            </a:r>
            <a:r>
              <a:rPr b="0"/>
              <a:t>Automated daily/hourly polling evaluating diffDays and diffHours against cutoff dates.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Stage 1 (7-Day Warning): </a:t>
            </a:r>
            <a:r>
              <a:rPr b="0"/>
              <a:t>Dispatches early alert push via SMS &amp; HTML email; sets alert7dSent=true.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Stage 2 (24-Hour Urgent): </a:t>
            </a:r>
            <a:r>
              <a:rPr b="0"/>
              <a:t>Dispatches urgent notice 1 day prior to forfeiture; sets alert1dSent=true.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Stage 3 (Final Day Call): </a:t>
            </a:r>
            <a:r>
              <a:rPr b="0"/>
              <a:t>Dispatches final cutoff notice; transitions reminder status to TRIGGERED.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Stage 4 (Auto-Cleanup): </a:t>
            </a:r>
            <a:r>
              <a:rPr b="0"/>
              <a:t>Safely purges expired records after 24h past cutoff, logging to audit trail.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Dual SMS Gateway: </a:t>
            </a:r>
            <a:r>
              <a:rPr b="0"/>
              <a:t>Twilio E.164 REST pipeline with automatic fallback to Fast2SMS national gateway.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VERIFICATION MATRIX</a:t>
            </a:r>
          </a:p>
          <a:p>
            <a:pPr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8. Testing, Quality Assurance &amp; Benchmark Results</a:t>
            </a:r>
          </a:p>
        </p:txBody>
      </p:sp>
      <p:pic>
        <p:nvPicPr>
          <p:cNvPr id="4" name="Picture 3" descr="evalua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852160" cy="2438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280160"/>
            <a:ext cx="457200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4173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Quality Assurance &amp; Test Matrix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Benchmark Dataset: </a:t>
            </a:r>
            <a:r>
              <a:rPr b="0"/>
              <a:t>150 real-world commercial agreements (SaaS, Gym, Tenancy, Employment).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Notice Cutoff Precision: </a:t>
            </a:r>
            <a:r>
              <a:rPr b="0"/>
              <a:t>98.1% precision in extracting exact notice cutoff deadlines.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Auto-Renewal Detection: </a:t>
            </a:r>
            <a:r>
              <a:rPr b="0"/>
              <a:t>96.4% precision in flagging hidden subscription rollover terms.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Inference Latency: </a:t>
            </a:r>
            <a:r>
              <a:rPr b="0"/>
              <a:t>Sub-2.0s average latency; 10x faster than traditional local BERT pipelines.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14/14 Test Cases Passed: </a:t>
            </a:r>
            <a:r>
              <a:rPr b="0"/>
              <a:t>Verified ingestion, cron triggers, SMS failovers, Resend emails, and atomic persistence.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GRAPHICAL USER INTERFACE</a:t>
            </a:r>
          </a:p>
          <a:p>
            <a:pPr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9. Output Screens &amp; User Experience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Executive HUD &amp; Intake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Executive Risk HUD: </a:t>
            </a:r>
            <a:r>
              <a:rPr b="0"/>
              <a:t>Live KPI counters: Monitored Contracts, Red Flags, Active Notice Cutoffs, Protected Capital.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Document Studio: </a:t>
            </a:r>
            <a:r>
              <a:rPr b="0"/>
              <a:t>Pasting contract text or selecting verified templates (Cult.fit, Bangalore Rental Lease, SaaS).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Neural Inference Visualizer: </a:t>
            </a:r>
            <a:r>
              <a:rPr b="0"/>
              <a:t>Real-time parsing feedback indicator.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Clause Radar &amp; Reminders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Clause Radar Matrix: </a:t>
            </a:r>
            <a:r>
              <a:rPr b="0"/>
              <a:t>Categorized risk cards with verbatim quotes, plain-language translation, and financial liability.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Reminders Center: </a:t>
            </a:r>
            <a:r>
              <a:rPr b="0"/>
              <a:t>Timeline tracking scheduled notice cutoffs across Stage 1, Stage 2, and Stage 3 alerts.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Manual Trigger Override: </a:t>
            </a:r>
            <a:r>
              <a:rPr b="0"/>
              <a:t>Direct button to test SMS and email dispatch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Inspectors &amp; Settings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Email Dispatch Inspector: </a:t>
            </a:r>
            <a:r>
              <a:rPr b="0"/>
              <a:t>Modal previewing raw HTML email template with embedded action buttons.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Dispute Notice Composer: </a:t>
            </a:r>
            <a:r>
              <a:rPr b="0"/>
              <a:t>Pre-drafted legal cancellation notices citing exact contract sections.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Telecom Settings Hub: </a:t>
            </a:r>
            <a:r>
              <a:rPr b="0"/>
              <a:t>Phone number configuration and API key management with E.164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imes New Roman"/>
              </a:defRPr>
            </a:pPr>
            <a:r>
              <a:t>CONCLUSION &amp; ROADMAP</a:t>
            </a:r>
          </a:p>
          <a:p>
            <a:pPr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10. 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Project Achievements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Restoring Balance: </a:t>
            </a:r>
            <a:r>
              <a:rPr b="0"/>
              <a:t>Eliminates information asymmetry in digital adhesion contracts.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Autonomous Protection: </a:t>
            </a:r>
            <a:r>
              <a:rPr b="0"/>
              <a:t>Replaces passive reading with active, multi-channel 3-stage defense.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Enterprise-Grade Speed: </a:t>
            </a:r>
            <a:r>
              <a:rPr b="0"/>
              <a:t>Sub-2s inference latency powered by Google Gemini 1.5 Flash.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Zero Data Leakage: </a:t>
            </a:r>
            <a:r>
              <a:rPr b="0"/>
              <a:t>Local synchronous storage with zero third-party PII persistence.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Live Production System: </a:t>
            </a:r>
            <a:r>
              <a:rPr b="0"/>
              <a:t>Fully deployed and operational at https://termguard.onrender.com.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Future Scope &amp; Roadmap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Browser Extension: </a:t>
            </a:r>
            <a:r>
              <a:rPr b="0"/>
              <a:t>Real-time checkout interceptor scanning Terms before clicking 'I Agree'.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On-Device SLM (Gemma): </a:t>
            </a:r>
            <a:r>
              <a:rPr b="0"/>
              <a:t>Offline local inference via WebGPU for complete air-gapped privacy.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WhatsApp &amp; Telegram Bots: </a:t>
            </a:r>
            <a:r>
              <a:rPr b="0"/>
              <a:t>Interactive messaging enabling cancellation approval with a single text reply.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Multilingual Indian Support: </a:t>
            </a:r>
            <a:r>
              <a:rPr b="0"/>
              <a:t>Extending clause extraction across Hindi, Telugu, Tamil, and Kannada.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Times New Roman"/>
              </a:defRPr>
            </a:pPr>
            <a:r>
              <a:rPr b="1">
                <a:solidFill>
                  <a:srgbClr val="2563EB"/>
                </a:solidFill>
              </a:rPr>
              <a:t>•  Blockchain Smart Contracts: </a:t>
            </a:r>
            <a:r>
              <a:rPr b="0"/>
              <a:t>Decentralized escrow and automated penalty arbitration.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